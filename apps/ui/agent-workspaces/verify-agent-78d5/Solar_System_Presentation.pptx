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presentation on the Solar System. I'm excited to take you on a journey through our cosmic neighborhood today.</a:t>
            </a:r>
          </a:p>
          <a:p/>
          <a:p>
            <a:r>
              <a:t>The Solar System is a fascinating place where our planet Earth resides, orbiting around the Sun along with seven other planets, numerous moons, asteroids, comets, and other celestial bodies. Understanding the Solar System helps us appreciate our place in the universe and understand the fundamental forces that govern our world.</a:t>
            </a:r>
          </a:p>
          <a:p/>
          <a:p>
            <a:r>
              <a:t>Today, we'll explore five key aspects of the Solar System: its formation and structure, the planets themselves, the Sun as our stellar anchor, moons and smaller bodies, and the search for life beyond Earth. By the end of this presentation, you'll have a comprehensive understanding of how our Solar System is organized and what makes it such a remarkable place.</a:t>
            </a:r>
          </a:p>
          <a:p/>
          <a:p>
            <a:r>
              <a:t>The study of the Solar System connects to many scientific disciplines including astronomy, physics, chemistry, and geology. It helps us understand planetary motion, gravitational forces, and the conditions necessary for life. This knowledge is crucial for space exploration, climate science, and our understanding of Earth's place in the cosmos.</a:t>
            </a:r>
          </a:p>
          <a:p/>
          <a:p>
            <a:r>
              <a:t>Let's begin our journey through the Solar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Solar System has a fascinating origin story that began over 4.6 billion years ago. Let me explain how it formed and why it's structured the way we see it today.</a:t>
            </a:r>
          </a:p>
          <a:p/>
          <a:p>
            <a:r>
              <a:t>The story begins with a nebula—a giant cloud of gas and dust spread throughout space. According to the Nebular Hypothesis, a nearby supernova explosion or collision caused pressure waves that disturbed this interstellar cloud. This disturbance caused the cloud to become unstable, and gravity started pulling the material inward. As the cloud collapsed, it began to spin faster, like a spinning ice skater pulling in their arms. This rotating disk of material became known as the protoplanetary disk.</a:t>
            </a:r>
          </a:p>
          <a:p/>
          <a:p>
            <a:r>
              <a:t>The center of this rotating disk became extremely hot and dense as material accumulated. This is where our Sun formed through nuclear fusion. The Sun is truly massive—it contains 99.86% of all the mass in our entire Solar System! This means gravity from the Sun dominates everything that orbits around it.</a:t>
            </a:r>
          </a:p>
          <a:p/>
          <a:p>
            <a:r>
              <a:t>Within this protoplanetary disk, gravity also caused material to clump together to form planets. This process is called accretion. Interestingly, the planets that formed close to the Sun were hot, so lighter elements like hydrogen and helium escaped into space, leaving behind denser rocky planets. Farther out, where it was colder, gases remained, forming the massive gas and ice giants we see today.</a:t>
            </a:r>
          </a:p>
          <a:p/>
          <a:p>
            <a:r>
              <a:t>One key feature of our Solar System is that all the planets orbit in roughly the same plane, called the ecliptic. This happened because they all formed from the same spinning disk of material. When you stand at the North Pole and look down at the Solar System from above, the planets would form a relatively flat disk around the Sun.</a:t>
            </a:r>
          </a:p>
          <a:p/>
          <a:p>
            <a:r>
              <a:t>We measure distances within the Solar System using a unit called the Astronomical Unit, or AU. One AU equals the average distance from Earth to the Sun: approximately 150 million kilometers or 93 million miles. This gives us a convenient way to compare distances. For example, Jupiter is about 5.2 AU from the Sun, meaning it orbits at a distance about 5.2 times farther than Earth.</a:t>
            </a:r>
          </a:p>
          <a:p/>
          <a:p>
            <a:r>
              <a:t>The structure of the Solar System reflects these physical processes. The inner four planets—Mercury, Venus, Earth, and Mars—are small, rocky worlds close to the Sun. The outer four—Jupiter, Saturn, Uranus, and Neptune—are much larger and are composed primarily of gases and ices. This arrangement isn't random; it's a direct result of where different types of materials could condense during the Solar System's formation.</a:t>
            </a:r>
          </a:p>
          <a:p/>
          <a:p>
            <a:r>
              <a:t>This foundational understanding of our Solar System's formation helps us understand why our planet is where it is, and why life emerged here on Earth rather than on other planets.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meet the eight planets of our Solar System. Each one is unique with its own characteristics and mysteries.</a:t>
            </a:r>
          </a:p>
          <a:p/>
          <a:p>
            <a:r>
              <a:t>Starting with the inner rocky planets closer to the Sun:</a:t>
            </a:r>
          </a:p>
          <a:p/>
          <a:p>
            <a:r>
              <a:t>Mercury is the smallest planet and closest to the Sun. Despite being closest to the heat source, it's not the hottest—its proximity to the Sun and lack of atmosphere means it has extreme temperature variations. The side facing the Sun gets incredibly hot, while the shadowed side becomes extremely cold. Mercury has virtually no atmosphere to distribute heat.</a:t>
            </a:r>
          </a:p>
          <a:p/>
          <a:p>
            <a:r>
              <a:t>Venus is nearly identical in size to Earth—we call them sister planets. However, Venus is a hellish world with temperatures that can melt lead, reaching 462 degrees Celsius. This extreme heat is due to a runaway greenhouse effect. Its atmosphere is incredibly thick, composed mostly of carbon dioxide, creating a pressure 92 times greater than Earth's atmosphere. Venus also rotates backwards compared to most planets and rotates so slowly that a day on Venus is longer than its year!</a:t>
            </a:r>
          </a:p>
          <a:p/>
          <a:p>
            <a:r>
              <a:t>Earth, our home planet, is the only known world to harbor life. This is because of several unique factors: our distance from the Sun provides moderate temperatures, our atmosphere protects us from radiation, we have liquid water on the surface, and we have a magnetic field. Earth has one moon, which is surprisingly large relative to Earth's size and has significant effects on our tides and climate.</a:t>
            </a:r>
          </a:p>
          <a:p/>
          <a:p>
            <a:r>
              <a:t>Mars, the Red Planet, appears reddish due to iron oxide (rust) in its soil. Mars is of particular interest to scientists because evidence suggests liquid water flowed on its surface billions of years ago. This makes Mars the most likely place to find evidence of past microbial life. Mars has two small moons named Phobos and Deimos.</a:t>
            </a:r>
          </a:p>
          <a:p/>
          <a:p>
            <a:r>
              <a:t>Moving to the outer planets:</a:t>
            </a:r>
          </a:p>
          <a:p/>
          <a:p>
            <a:r>
              <a:t>Jupiter is the giant of our Solar System. It's so large that over 1,300 Earths could fit inside it! Jupiter is a gas giant composed primarily of hydrogen and helium. It has a distinctive appearance with colorful bands of clouds and a feature called the Great Red Spot—a storm larger than Earth that has been raging for at least 300 years. Jupiter has at least 79 moons, including the four large Galilean moons: Io, Europa, Ganymede, and Callisto. Europa is particularly interesting because it likely has a subsurface ocean that could harbor life.</a:t>
            </a:r>
          </a:p>
          <a:p/>
          <a:p>
            <a:r>
              <a:t>Saturn is famous for its spectacular ring system. These rings are composed of billions of particles of ice and rock, ranging in size from grains of sand to mountain-sized chunks. Saturn has 82 confirmed moons, with Titan being the largest and having a thick atmosphere and liquid methane lakes—the only other planetary body besides Earth known to have stable surface liquids.</a:t>
            </a:r>
          </a:p>
          <a:p/>
          <a:p>
            <a:r>
              <a:t>Uranus is an ice giant that rotates on its side, likely due to a collision early in its history. It appears as a featureless blue-green disk in telescopes due to methane in its atmosphere, which absorbs red light. Uranus is composed of water, methane, and ammonia ices surrounding a rocky core.</a:t>
            </a:r>
          </a:p>
          <a:p/>
          <a:p>
            <a:r>
              <a:t>Neptune is the farthest planet from the Sun and also an ice giant. Despite being farther from the Sun, Neptune has the strongest winds in the Solar System, exceeding 2,000 kilometers per hour. Neptune has a dark storm system similar to Jupiter's Great Red Spot.</a:t>
            </a:r>
          </a:p>
          <a:p/>
          <a:p>
            <a:r>
              <a:t>Understanding the diversity of planets helps us appreciate how rare and special Earth is for supporting life.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Sun is the heart of our Solar System, and everything revolves around it due to its enormous gravitational influence.</a:t>
            </a:r>
          </a:p>
          <a:p/>
          <a:p>
            <a:r>
              <a:t>The Sun is a medium-sized star, about 4.6 billion years old, currently in what astronomers call the Main Sequence phase of its life. It's absolutely massive—its diameter is about 109 times larger than Earth's, meaning you could fit about 1.3 million Earths inside the Sun! The Sun's mass is about 333,000 times Earth's mass, which is why its gravity keeps all the planets in orbit.</a:t>
            </a:r>
          </a:p>
          <a:p/>
          <a:p>
            <a:r>
              <a:t>The Sun generates energy through nuclear fusion in its core. Hydrogen atoms fuse together to form helium, and this process releases enormous amounts of energy in the form of light and heat. The core temperature reaches approximately 15 million degrees Celsius, while the visible surface, called the photosphere, is about 5,500 degrees Celsius. The Sun's energy is essential for life on Earth—it drives weather patterns, provides energy for photosynthesis, and makes all life possible.</a:t>
            </a:r>
          </a:p>
          <a:p/>
          <a:p>
            <a:r>
              <a:t>Beyond the planets, there are numerous smaller bodies in the Solar System:</a:t>
            </a:r>
          </a:p>
          <a:p/>
          <a:p>
            <a:r>
              <a:t>The Asteroid Belt is located between the orbits of Mars and Jupiter. It contains millions of rocky objects, ranging from tiny pebbles to Ceres, a dwarf planet with a diameter of about 950 kilometers. The asteroid belt is the remnant of planetary formation—these objects never accumulated into a full planet, likely because Jupiter's gravity prevented them from doing so.</a:t>
            </a:r>
          </a:p>
          <a:p/>
          <a:p>
            <a:r>
              <a:t>The Kuiper Belt is a region beyond Neptune filled with icy bodies. It contains dwarf planets such as Pluto and Eris. Pluto, once considered the ninth planet, was reclassified as a dwarf planet in 2006 because it hasn't cleared its orbital path of other debris, which is a criterion for full planet status.</a:t>
            </a:r>
          </a:p>
          <a:p/>
          <a:p>
            <a:r>
              <a:t>The Oort Cloud is a theoretical spherical shell of icy objects thought to surround the entire Solar System at vast distances. It's believed to be the source of long-period comets. Some Oort Cloud objects are estimated to be as far as 100,000 AU from the Sun!</a:t>
            </a:r>
          </a:p>
          <a:p/>
          <a:p>
            <a:r>
              <a:t>Comets are particularly fascinating—they're often called "dirty snowballs" composed of ice, rock, and dust. When a comet approaches the Sun, solar radiation warms it, causing gases to vaporize and create the beautiful tail we see. The tail always points away from the Sun due to solar wind. Famous comets like Halley's Comet return to the inner Solar System on regular schedules.</a:t>
            </a:r>
          </a:p>
          <a:p/>
          <a:p>
            <a:r>
              <a:t>Meteoroids are small rock fragments in space. When they enter Earth's atmosphere, friction causes them to heat up and glow—this is what we call a meteor or shooting star. If a meteoroid is large enough to survive the passage through the atmosphere and land on Earth, it's called a meteorite.</a:t>
            </a:r>
          </a:p>
          <a:p/>
          <a:p>
            <a:r>
              <a:t>Understanding the full diversity of objects in the Solar System gives us a complete picture of how complex and varied our cosmic neighborhood really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profound questions in science is whether life exists beyond Earth. In this final slide, we'll explore what scientists are looking for and where they're most likely to find it.</a:t>
            </a:r>
          </a:p>
          <a:p/>
          <a:p>
            <a:r>
              <a:t>First, let's consider what conditions are necessary for life as we understand it:</a:t>
            </a:r>
          </a:p>
          <a:p/>
          <a:p>
            <a:r>
              <a:t>Liquid water is perhaps the most important requirement. Water is an excellent solvent for the chemical reactions that make up biology. It can dissolve nutrients, facilitate chemical reactions, and regulate temperature. While we imagine most life forms would need liquid water, scientists don't rule out exotic alternatives in extreme environments.</a:t>
            </a:r>
          </a:p>
          <a:p/>
          <a:p>
            <a:r>
              <a:t>A stable energy source is essential. On Earth, this comes from the Sun, though some organisms derive energy from chemical reactions around hydrothermal vents. Any habitable world would need some reliable energy source.</a:t>
            </a:r>
          </a:p>
          <a:p/>
          <a:p>
            <a:r>
              <a:t>An atmosphere or protective shield is important to protect against harmful radiation, particularly ultraviolet light from the star. The magnetic field and atmosphere work together on Earth to make surface life possible.</a:t>
            </a:r>
          </a:p>
          <a:p/>
          <a:p>
            <a:r>
              <a:t>Finally, the necessary chemical building blocks—carbon, nitrogen, oxygen, and phosphorus—must be available. These are the fundamental elements of life, and they're common throughout the universe.</a:t>
            </a:r>
          </a:p>
          <a:p/>
          <a:p>
            <a:r>
              <a:t>Now, where are the most promising places to look for life?</a:t>
            </a:r>
          </a:p>
          <a:p/>
          <a:p>
            <a:r>
              <a:t>Europa is one of Jupiter's 79 moons. Despite being farther from the Sun, Europa likely has a subsurface ocean of liquid water beneath its icy crust. The ocean is heated by tidal forces from Jupiter's gravity. If this ocean exists and has hydrothermal vents, it could potentially harbor microbial life similar to organisms around Earth's deep-sea vents.</a:t>
            </a:r>
          </a:p>
          <a:p/>
          <a:p>
            <a:r>
              <a:t>Enceladus, orbiting Saturn, has water geysers that shoot material hundreds of kilometers into space. Analysis of these geysers reveals they contain organic compounds and minerals, suggesting hydrothermal activity on the ocean floor beneath Enceladus's ice shell.</a:t>
            </a:r>
          </a:p>
          <a:p/>
          <a:p>
            <a:r>
              <a:t>Mars, while no longer having liquid water on its surface, had significant water billions of years ago. Evidence of past rivers and lakes means Mars was potentially habitable in its past. Scientists are searching for evidence of past microbial life and looking for conditions where life might persist underground today.</a:t>
            </a:r>
          </a:p>
          <a:p/>
          <a:p>
            <a:r>
              <a:t>Beyond our Solar System, the TRAPPIST-1 system has seven Earth-sized planets, with several in the habitable zone where liquid water could exist.</a:t>
            </a:r>
          </a:p>
          <a:p/>
          <a:p>
            <a:r>
              <a:t>The James Webb Space Telescope, launched in 2021, is revolutionizing our ability to study exoplanet atmospheres. By analyzing the light that passes through an exoplanet's atmosphere, we can determine its composition and potentially identify biosignatures—chemical combinations that might indicate life.</a:t>
            </a:r>
          </a:p>
          <a:p/>
          <a:p>
            <a:r>
              <a:t>Future exploration plans include sample return missions from Mars, and proposed missions to Europa and Enceladus to directly examine their oceans.</a:t>
            </a:r>
          </a:p>
          <a:p/>
          <a:p>
            <a:r>
              <a:t>As we conclude this presentation, remember that the search for life beyond Earth isn't just about finding aliens—it's about understanding the conditions necessary for life, the diversity of environments in our universe, and humanity's place in the cosmos. Whether or not we discover life elsewhere, this search expands our understanding of biology, chemistry, physics, and our own planet.</a:t>
            </a:r>
          </a:p>
          <a:p/>
          <a:p>
            <a:r>
              <a:t>Thank you for joining me on this journey through the Solar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3264"/>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none">
            <a:spAutoFit/>
          </a:bodyPr>
          <a:lstStyle/>
          <a:p>
            <a:pPr algn="ctr">
              <a:defRPr sz="6000" b="1">
                <a:solidFill>
                  <a:srgbClr val="FFFFFF"/>
                </a:solidFill>
              </a:defRPr>
            </a:pPr>
            <a:r>
              <a:t>The Solar System</a:t>
            </a:r>
          </a:p>
        </p:txBody>
      </p:sp>
      <p:sp>
        <p:nvSpPr>
          <p:cNvPr id="3" name="TextBox 2"/>
          <p:cNvSpPr txBox="1"/>
          <p:nvPr/>
        </p:nvSpPr>
        <p:spPr>
          <a:xfrm>
            <a:off x="457200" y="3840480"/>
            <a:ext cx="8229600" cy="1371600"/>
          </a:xfrm>
          <a:prstGeom prst="rect">
            <a:avLst/>
          </a:prstGeom>
          <a:noFill/>
        </p:spPr>
        <p:txBody>
          <a:bodyPr wrap="none">
            <a:spAutoFit/>
          </a:bodyPr>
          <a:lstStyle/>
          <a:p>
            <a:pPr algn="ctr">
              <a:defRPr sz="2800">
                <a:solidFill>
                  <a:srgbClr val="6496C8"/>
                </a:solidFill>
              </a:defRPr>
            </a:pPr>
            <a:r>
              <a:t>A Journey Through Our Cosmic Neighborhood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4400" b="1">
                <a:solidFill>
                  <a:srgbClr val="193264"/>
                </a:solidFill>
              </a:defRPr>
            </a:pPr>
            <a:r>
              <a:t>Formation and Structure of the Solar System</a:t>
            </a:r>
          </a:p>
        </p:txBody>
      </p:sp>
      <p:sp>
        <p:nvSpPr>
          <p:cNvPr id="3" name="Rectangle 2"/>
          <p:cNvSpPr/>
          <p:nvPr/>
        </p:nvSpPr>
        <p:spPr>
          <a:xfrm>
            <a:off x="457200" y="118872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7863840" cy="4754880"/>
          </a:xfrm>
          <a:prstGeom prst="rect">
            <a:avLst/>
          </a:prstGeom>
          <a:noFill/>
        </p:spPr>
        <p:txBody>
          <a:bodyPr wrap="square">
            <a:spAutoFit/>
          </a:bodyPr>
          <a:lstStyle/>
          <a:p>
            <a:pPr>
              <a:spcBef>
                <a:spcPts val="800"/>
              </a:spcBef>
              <a:spcAft>
                <a:spcPts val="800"/>
              </a:spcAft>
              <a:defRPr sz="1800" b="1">
                <a:solidFill>
                  <a:srgbClr val="202020"/>
                </a:solidFill>
              </a:defRPr>
            </a:pPr>
            <a:r>
              <a:t>• Formation: Born approximately 4.6 billion years ago from a collapsing cloud of gas and dust</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 Nebular Hypothesis: The solar nebula hypothesis explains how gravity compressed the protoplanetary disk</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 The Sun: At the center, containing 99.86% of the total mass of the Solar System</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 Orbital Planes: Planets orbit in roughly the same plane, called the ecliptic</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 Distance Scale: Measured in Astronomical Units (AU); 1 AU = distance from Earth to Sun (150 million km)</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 Structure: Inner rocky planets close to Sun; outer gas/ice giants farther away</a:t>
            </a:r>
          </a:p>
          <a:p>
            <a:pPr>
              <a:spcBef>
                <a:spcPts val="800"/>
              </a:spcBef>
              <a:spcAft>
                <a:spcPts val="800"/>
              </a:spcAft>
              <a:defRPr sz="1800" b="1">
                <a:solidFill>
                  <a:srgbClr val="202020"/>
                </a:solidFill>
              </a:defRPr>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4400" b="1">
                <a:solidFill>
                  <a:srgbClr val="193264"/>
                </a:solidFill>
              </a:defRPr>
            </a:pPr>
            <a:r>
              <a:t>The Planets of the Solar System</a:t>
            </a:r>
          </a:p>
        </p:txBody>
      </p:sp>
      <p:sp>
        <p:nvSpPr>
          <p:cNvPr id="3" name="Rectangle 2"/>
          <p:cNvSpPr/>
          <p:nvPr/>
        </p:nvSpPr>
        <p:spPr>
          <a:xfrm>
            <a:off x="457200" y="118872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7863840" cy="4754880"/>
          </a:xfrm>
          <a:prstGeom prst="rect">
            <a:avLst/>
          </a:prstGeom>
          <a:noFill/>
        </p:spPr>
        <p:txBody>
          <a:bodyPr wrap="square">
            <a:spAutoFit/>
          </a:bodyPr>
          <a:lstStyle/>
          <a:p>
            <a:pPr>
              <a:spcBef>
                <a:spcPts val="800"/>
              </a:spcBef>
              <a:spcAft>
                <a:spcPts val="800"/>
              </a:spcAft>
              <a:defRPr sz="1800" b="1">
                <a:solidFill>
                  <a:srgbClr val="202020"/>
                </a:solidFill>
              </a:defRPr>
            </a:pPr>
            <a:r>
              <a:t>Inner Rocky Planets:</a:t>
            </a:r>
          </a:p>
          <a:p>
            <a:pPr>
              <a:spcBef>
                <a:spcPts val="800"/>
              </a:spcBef>
              <a:spcAft>
                <a:spcPts val="800"/>
              </a:spcAft>
              <a:defRPr sz="1800" b="1">
                <a:solidFill>
                  <a:srgbClr val="202020"/>
                </a:solidFill>
              </a:defRPr>
            </a:pPr>
            <a:r>
              <a:t>• Mercury: Closest to Sun, small, no atmosphere, extreme temperatures</a:t>
            </a:r>
          </a:p>
          <a:p>
            <a:pPr>
              <a:spcBef>
                <a:spcPts val="800"/>
              </a:spcBef>
              <a:spcAft>
                <a:spcPts val="800"/>
              </a:spcAft>
              <a:defRPr sz="1800" b="1">
                <a:solidFill>
                  <a:srgbClr val="202020"/>
                </a:solidFill>
              </a:defRPr>
            </a:pPr>
            <a:r>
              <a:t>• Venus: Similar size to Earth, but with a toxic atmosphere, hottest planet</a:t>
            </a:r>
          </a:p>
          <a:p>
            <a:pPr>
              <a:spcBef>
                <a:spcPts val="800"/>
              </a:spcBef>
              <a:spcAft>
                <a:spcPts val="800"/>
              </a:spcAft>
              <a:defRPr sz="1800" b="1">
                <a:solidFill>
                  <a:srgbClr val="202020"/>
                </a:solidFill>
              </a:defRPr>
            </a:pPr>
            <a:r>
              <a:t>• Earth: Our home, the only known planet with life, has one moon</a:t>
            </a:r>
          </a:p>
          <a:p>
            <a:pPr>
              <a:spcBef>
                <a:spcPts val="800"/>
              </a:spcBef>
              <a:spcAft>
                <a:spcPts val="800"/>
              </a:spcAft>
              <a:defRPr sz="1800" b="1">
                <a:solidFill>
                  <a:srgbClr val="202020"/>
                </a:solidFill>
              </a:defRPr>
            </a:pPr>
            <a:r>
              <a:t>• Mars: The Red Planet, shows evidence of past water, has two small moons</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Outer Gas and Ice Giants:</a:t>
            </a:r>
          </a:p>
          <a:p>
            <a:pPr>
              <a:spcBef>
                <a:spcPts val="800"/>
              </a:spcBef>
              <a:spcAft>
                <a:spcPts val="800"/>
              </a:spcAft>
              <a:defRPr sz="1800" b="1">
                <a:solidFill>
                  <a:srgbClr val="202020"/>
                </a:solidFill>
              </a:defRPr>
            </a:pPr>
            <a:r>
              <a:t>• Jupiter: Largest planet, has a Great Red Spot storm, at least 79 moons</a:t>
            </a:r>
          </a:p>
          <a:p>
            <a:pPr>
              <a:spcBef>
                <a:spcPts val="800"/>
              </a:spcBef>
              <a:spcAft>
                <a:spcPts val="800"/>
              </a:spcAft>
              <a:defRPr sz="1800" b="1">
                <a:solidFill>
                  <a:srgbClr val="202020"/>
                </a:solidFill>
              </a:defRPr>
            </a:pPr>
            <a:r>
              <a:t>• Saturn: Famous for its spectacular ring system, 82+ confirmed moons</a:t>
            </a:r>
          </a:p>
          <a:p>
            <a:pPr>
              <a:spcBef>
                <a:spcPts val="800"/>
              </a:spcBef>
              <a:spcAft>
                <a:spcPts val="800"/>
              </a:spcAft>
              <a:defRPr sz="1800" b="1">
                <a:solidFill>
                  <a:srgbClr val="202020"/>
                </a:solidFill>
              </a:defRPr>
            </a:pPr>
            <a:r>
              <a:t>• Uranus: Rotates on its side, ice giant composed of water, methane, ammonia</a:t>
            </a:r>
          </a:p>
          <a:p>
            <a:pPr>
              <a:spcBef>
                <a:spcPts val="800"/>
              </a:spcBef>
              <a:spcAft>
                <a:spcPts val="800"/>
              </a:spcAft>
              <a:defRPr sz="1800" b="1">
                <a:solidFill>
                  <a:srgbClr val="202020"/>
                </a:solidFill>
              </a:defRPr>
            </a:pPr>
            <a:r>
              <a:t>• Neptune: Farthest planet, strongest winds in the Solar System, dark storms</a:t>
            </a:r>
          </a:p>
          <a:p>
            <a:pPr>
              <a:spcBef>
                <a:spcPts val="800"/>
              </a:spcBef>
              <a:spcAft>
                <a:spcPts val="800"/>
              </a:spcAft>
              <a:defRPr sz="1800" b="1">
                <a:solidFill>
                  <a:srgbClr val="202020"/>
                </a:solidFill>
              </a:defRPr>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4400" b="1">
                <a:solidFill>
                  <a:srgbClr val="193264"/>
                </a:solidFill>
              </a:defRPr>
            </a:pPr>
            <a:r>
              <a:t>The Sun and Smaller Celestial Bodies</a:t>
            </a:r>
          </a:p>
        </p:txBody>
      </p:sp>
      <p:sp>
        <p:nvSpPr>
          <p:cNvPr id="3" name="Rectangle 2"/>
          <p:cNvSpPr/>
          <p:nvPr/>
        </p:nvSpPr>
        <p:spPr>
          <a:xfrm>
            <a:off x="457200" y="118872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7863840" cy="4754880"/>
          </a:xfrm>
          <a:prstGeom prst="rect">
            <a:avLst/>
          </a:prstGeom>
          <a:noFill/>
        </p:spPr>
        <p:txBody>
          <a:bodyPr wrap="square">
            <a:spAutoFit/>
          </a:bodyPr>
          <a:lstStyle/>
          <a:p>
            <a:pPr>
              <a:spcBef>
                <a:spcPts val="800"/>
              </a:spcBef>
              <a:spcAft>
                <a:spcPts val="800"/>
              </a:spcAft>
              <a:defRPr sz="1800" b="1">
                <a:solidFill>
                  <a:srgbClr val="202020"/>
                </a:solidFill>
              </a:defRPr>
            </a:pPr>
            <a:r>
              <a:t>The Sun:</a:t>
            </a:r>
          </a:p>
          <a:p>
            <a:pPr>
              <a:spcBef>
                <a:spcPts val="800"/>
              </a:spcBef>
              <a:spcAft>
                <a:spcPts val="800"/>
              </a:spcAft>
              <a:defRPr sz="1800" b="1">
                <a:solidFill>
                  <a:srgbClr val="202020"/>
                </a:solidFill>
              </a:defRPr>
            </a:pPr>
            <a:r>
              <a:t>• A medium-sized star in the Main Sequence phase, about 4.6 billion years old</a:t>
            </a:r>
          </a:p>
          <a:p>
            <a:pPr>
              <a:spcBef>
                <a:spcPts val="800"/>
              </a:spcBef>
              <a:spcAft>
                <a:spcPts val="800"/>
              </a:spcAft>
              <a:defRPr sz="1800" b="1">
                <a:solidFill>
                  <a:srgbClr val="202020"/>
                </a:solidFill>
              </a:defRPr>
            </a:pPr>
            <a:r>
              <a:t>• Diameter: 109 times larger than Earth; Mass: 333,000 times Earth's mass</a:t>
            </a:r>
          </a:p>
          <a:p>
            <a:pPr>
              <a:spcBef>
                <a:spcPts val="800"/>
              </a:spcBef>
              <a:spcAft>
                <a:spcPts val="800"/>
              </a:spcAft>
              <a:defRPr sz="1800" b="1">
                <a:solidFill>
                  <a:srgbClr val="202020"/>
                </a:solidFill>
              </a:defRPr>
            </a:pPr>
            <a:r>
              <a:t>• Core temperature: 15 million degrees Celsius; Surface: 5,500°C</a:t>
            </a:r>
          </a:p>
          <a:p>
            <a:pPr>
              <a:spcBef>
                <a:spcPts val="800"/>
              </a:spcBef>
              <a:spcAft>
                <a:spcPts val="800"/>
              </a:spcAft>
              <a:defRPr sz="1800" b="1">
                <a:solidFill>
                  <a:srgbClr val="202020"/>
                </a:solidFill>
              </a:defRPr>
            </a:pPr>
            <a:r>
              <a:t>• Provides light, heat, and gravitational anchor for the entire Solar System</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Smaller Bodies:</a:t>
            </a:r>
          </a:p>
          <a:p>
            <a:pPr>
              <a:spcBef>
                <a:spcPts val="800"/>
              </a:spcBef>
              <a:spcAft>
                <a:spcPts val="800"/>
              </a:spcAft>
              <a:defRPr sz="1800" b="1">
                <a:solidFill>
                  <a:srgbClr val="202020"/>
                </a:solidFill>
              </a:defRPr>
            </a:pPr>
            <a:r>
              <a:t>• Asteroid Belt: Located between Mars and Jupiter; contains millions of rocky objects</a:t>
            </a:r>
          </a:p>
          <a:p>
            <a:pPr>
              <a:spcBef>
                <a:spcPts val="800"/>
              </a:spcBef>
              <a:spcAft>
                <a:spcPts val="800"/>
              </a:spcAft>
              <a:defRPr sz="1800" b="1">
                <a:solidFill>
                  <a:srgbClr val="202020"/>
                </a:solidFill>
              </a:defRPr>
            </a:pPr>
            <a:r>
              <a:t>• Kuiper Belt: Beyond Neptune; contains dwarf planets like Pluto and Eris</a:t>
            </a:r>
          </a:p>
          <a:p>
            <a:pPr>
              <a:spcBef>
                <a:spcPts val="800"/>
              </a:spcBef>
              <a:spcAft>
                <a:spcPts val="800"/>
              </a:spcAft>
              <a:defRPr sz="1800" b="1">
                <a:solidFill>
                  <a:srgbClr val="202020"/>
                </a:solidFill>
              </a:defRPr>
            </a:pPr>
            <a:r>
              <a:t>• Oort Cloud: Theoretical spherical shell at the Solar System's edge; source of long-period comets</a:t>
            </a:r>
          </a:p>
          <a:p>
            <a:pPr>
              <a:spcBef>
                <a:spcPts val="800"/>
              </a:spcBef>
              <a:spcAft>
                <a:spcPts val="800"/>
              </a:spcAft>
              <a:defRPr sz="1800" b="1">
                <a:solidFill>
                  <a:srgbClr val="202020"/>
                </a:solidFill>
              </a:defRPr>
            </a:pPr>
            <a:r>
              <a:t>• Comets: Icy bodies with tails that become visible when they approach the Sun</a:t>
            </a:r>
          </a:p>
          <a:p>
            <a:pPr>
              <a:spcBef>
                <a:spcPts val="800"/>
              </a:spcBef>
              <a:spcAft>
                <a:spcPts val="800"/>
              </a:spcAft>
              <a:defRPr sz="1800" b="1">
                <a:solidFill>
                  <a:srgbClr val="202020"/>
                </a:solidFill>
              </a:defRPr>
            </a:pPr>
            <a:r>
              <a:t>• Meteoroids: Small rock fragments; become meteors when entering atmosphere</a:t>
            </a:r>
          </a:p>
          <a:p>
            <a:pPr>
              <a:spcBef>
                <a:spcPts val="800"/>
              </a:spcBef>
              <a:spcAft>
                <a:spcPts val="800"/>
              </a:spcAft>
              <a:defRPr sz="1800" b="1">
                <a:solidFill>
                  <a:srgbClr val="202020"/>
                </a:solidFill>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4400" b="1">
                <a:solidFill>
                  <a:srgbClr val="193264"/>
                </a:solidFill>
              </a:defRPr>
            </a:pPr>
            <a:r>
              <a:t>The Search for Life Beyond Earth</a:t>
            </a:r>
          </a:p>
        </p:txBody>
      </p:sp>
      <p:sp>
        <p:nvSpPr>
          <p:cNvPr id="3" name="Rectangle 2"/>
          <p:cNvSpPr/>
          <p:nvPr/>
        </p:nvSpPr>
        <p:spPr>
          <a:xfrm>
            <a:off x="457200" y="118872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7863840" cy="4754880"/>
          </a:xfrm>
          <a:prstGeom prst="rect">
            <a:avLst/>
          </a:prstGeom>
          <a:noFill/>
        </p:spPr>
        <p:txBody>
          <a:bodyPr wrap="square">
            <a:spAutoFit/>
          </a:bodyPr>
          <a:lstStyle/>
          <a:p>
            <a:pPr>
              <a:spcBef>
                <a:spcPts val="800"/>
              </a:spcBef>
              <a:spcAft>
                <a:spcPts val="800"/>
              </a:spcAft>
              <a:defRPr sz="1800" b="1">
                <a:solidFill>
                  <a:srgbClr val="202020"/>
                </a:solidFill>
              </a:defRPr>
            </a:pPr>
            <a:r>
              <a:t>Conditions for Life:</a:t>
            </a:r>
          </a:p>
          <a:p>
            <a:pPr>
              <a:spcBef>
                <a:spcPts val="800"/>
              </a:spcBef>
              <a:spcAft>
                <a:spcPts val="800"/>
              </a:spcAft>
              <a:defRPr sz="1800" b="1">
                <a:solidFill>
                  <a:srgbClr val="202020"/>
                </a:solidFill>
              </a:defRPr>
            </a:pPr>
            <a:r>
              <a:t>• Liquid water: Essential solvent for biochemistry</a:t>
            </a:r>
          </a:p>
          <a:p>
            <a:pPr>
              <a:spcBef>
                <a:spcPts val="800"/>
              </a:spcBef>
              <a:spcAft>
                <a:spcPts val="800"/>
              </a:spcAft>
              <a:defRPr sz="1800" b="1">
                <a:solidFill>
                  <a:srgbClr val="202020"/>
                </a:solidFill>
              </a:defRPr>
            </a:pPr>
            <a:r>
              <a:t>• Stable energy source: Usually a star like our Sun</a:t>
            </a:r>
          </a:p>
          <a:p>
            <a:pPr>
              <a:spcBef>
                <a:spcPts val="800"/>
              </a:spcBef>
              <a:spcAft>
                <a:spcPts val="800"/>
              </a:spcAft>
              <a:defRPr sz="1800" b="1">
                <a:solidFill>
                  <a:srgbClr val="202020"/>
                </a:solidFill>
              </a:defRPr>
            </a:pPr>
            <a:r>
              <a:t>• Protecting atmosphere: Shields from radiation</a:t>
            </a:r>
          </a:p>
          <a:p>
            <a:pPr>
              <a:spcBef>
                <a:spcPts val="800"/>
              </a:spcBef>
              <a:spcAft>
                <a:spcPts val="800"/>
              </a:spcAft>
              <a:defRPr sz="1800" b="1">
                <a:solidFill>
                  <a:srgbClr val="202020"/>
                </a:solidFill>
              </a:defRPr>
            </a:pPr>
            <a:r>
              <a:t>• Chemical building blocks: Carbon, nitrogen, oxygen, phosphorus</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Promising Candidates:</a:t>
            </a:r>
          </a:p>
          <a:p>
            <a:pPr>
              <a:spcBef>
                <a:spcPts val="800"/>
              </a:spcBef>
              <a:spcAft>
                <a:spcPts val="800"/>
              </a:spcAft>
              <a:defRPr sz="1800" b="1">
                <a:solidFill>
                  <a:srgbClr val="202020"/>
                </a:solidFill>
              </a:defRPr>
            </a:pPr>
            <a:r>
              <a:t>• Europa (Jupiter's moon): Subsurface ocean beneath ice crust</a:t>
            </a:r>
          </a:p>
          <a:p>
            <a:pPr>
              <a:spcBef>
                <a:spcPts val="800"/>
              </a:spcBef>
              <a:spcAft>
                <a:spcPts val="800"/>
              </a:spcAft>
              <a:defRPr sz="1800" b="1">
                <a:solidFill>
                  <a:srgbClr val="202020"/>
                </a:solidFill>
              </a:defRPr>
            </a:pPr>
            <a:r>
              <a:t>• Enceladus (Saturn's moon): Water geysers and hydrothermal vents</a:t>
            </a:r>
          </a:p>
          <a:p>
            <a:pPr>
              <a:spcBef>
                <a:spcPts val="800"/>
              </a:spcBef>
              <a:spcAft>
                <a:spcPts val="800"/>
              </a:spcAft>
              <a:defRPr sz="1800" b="1">
                <a:solidFill>
                  <a:srgbClr val="202020"/>
                </a:solidFill>
              </a:defRPr>
            </a:pPr>
            <a:r>
              <a:t>• Mars: Evidence of past water and organic compounds</a:t>
            </a:r>
          </a:p>
          <a:p>
            <a:pPr>
              <a:spcBef>
                <a:spcPts val="800"/>
              </a:spcBef>
              <a:spcAft>
                <a:spcPts val="800"/>
              </a:spcAft>
              <a:defRPr sz="1800" b="1">
                <a:solidFill>
                  <a:srgbClr val="202020"/>
                </a:solidFill>
              </a:defRPr>
            </a:pPr>
            <a:r>
              <a:t>• TRAPPIST-1 system: Seven Earth-sized exoplanets in habitable zone</a:t>
            </a:r>
          </a:p>
          <a:p>
            <a:pPr>
              <a:spcBef>
                <a:spcPts val="800"/>
              </a:spcBef>
              <a:spcAft>
                <a:spcPts val="800"/>
              </a:spcAft>
              <a:defRPr sz="1800" b="1">
                <a:solidFill>
                  <a:srgbClr val="202020"/>
                </a:solidFill>
              </a:defRPr>
            </a:pPr>
          </a:p>
          <a:p>
            <a:pPr>
              <a:spcBef>
                <a:spcPts val="800"/>
              </a:spcBef>
              <a:spcAft>
                <a:spcPts val="800"/>
              </a:spcAft>
              <a:defRPr sz="1800" b="1">
                <a:solidFill>
                  <a:srgbClr val="202020"/>
                </a:solidFill>
              </a:defRPr>
            </a:pPr>
            <a:r>
              <a:t>Future Exploration:</a:t>
            </a:r>
          </a:p>
          <a:p>
            <a:pPr>
              <a:spcBef>
                <a:spcPts val="800"/>
              </a:spcBef>
              <a:spcAft>
                <a:spcPts val="800"/>
              </a:spcAft>
              <a:defRPr sz="1800" b="1">
                <a:solidFill>
                  <a:srgbClr val="202020"/>
                </a:solidFill>
              </a:defRPr>
            </a:pPr>
            <a:r>
              <a:t>• James Webb Space Telescope: Analyzing atmospheres of exoplanets</a:t>
            </a:r>
          </a:p>
          <a:p>
            <a:pPr>
              <a:spcBef>
                <a:spcPts val="800"/>
              </a:spcBef>
              <a:spcAft>
                <a:spcPts val="800"/>
              </a:spcAft>
              <a:defRPr sz="1800" b="1">
                <a:solidFill>
                  <a:srgbClr val="202020"/>
                </a:solidFill>
              </a:defRPr>
            </a:pPr>
            <a:r>
              <a:t>• Mars rovers and sample return missions</a:t>
            </a:r>
          </a:p>
          <a:p>
            <a:pPr>
              <a:spcBef>
                <a:spcPts val="800"/>
              </a:spcBef>
              <a:spcAft>
                <a:spcPts val="800"/>
              </a:spcAft>
              <a:defRPr sz="1800" b="1">
                <a:solidFill>
                  <a:srgbClr val="202020"/>
                </a:solidFill>
              </a:defRPr>
            </a:pPr>
            <a:r>
              <a:t>• Ocean world missions to Europa and Enceladus</a:t>
            </a:r>
          </a:p>
          <a:p>
            <a:pPr>
              <a:spcBef>
                <a:spcPts val="800"/>
              </a:spcBef>
              <a:spcAft>
                <a:spcPts val="800"/>
              </a:spcAft>
              <a:defRPr sz="1800" b="1">
                <a:solidFill>
                  <a:srgbClr val="202020"/>
                </a:solidFill>
              </a:defRPr>
            </a:pPr>
            <a:r>
              <a:t>• Search for technosignatures and biosignatures</a:t>
            </a:r>
          </a:p>
          <a:p>
            <a:pPr>
              <a:spcBef>
                <a:spcPts val="800"/>
              </a:spcBef>
              <a:spcAft>
                <a:spcPts val="800"/>
              </a:spcAft>
              <a:defRPr sz="1800" b="1">
                <a:solidFill>
                  <a:srgbClr val="202020"/>
                </a:solidFill>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