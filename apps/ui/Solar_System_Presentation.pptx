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SOLAR SYSTEM OVERVIEW</a:t>
            </a:r>
            <a:br/>
            <a:br/>
            <a:r>
              <a:t>Welcome to our exploration of the Solar System. Today, we'll investigate one of the most fascinating regions of space - our own cosmic neighborhood.</a:t>
            </a:r>
            <a:br/>
            <a:br/>
            <a:r>
              <a:t>The Solar System is our home in the universe. It consists of the Sun, which accounts for 99.86% of the system's mass, and everything that orbits it. This includes eight planets - Mercury, Venus, Earth, Mars, Jupiter, Saturn, Uranus, and Neptune. Beyond the planets, we have dwarf planets like Pluto, Eris, Makemake, Haumea, and Ceres. We also have moons - Earth has one, Mars has two, Jupiter has 95, and Saturn has 146 - along with asteroids, comets, and other icy bodies.</a:t>
            </a:r>
            <a:br/>
            <a:br/>
            <a:r>
              <a:t>The entire system formed about 4.6 billion years ago from a collapsing cloud of gas and dust called the solar nebula. As this cloud collapsed, it began to spin, flattening into a disk. The center became hot enough to initiate nuclear fusion, creating our Sun. The remaining material in the disk gradually coalesced into planets and other objects.</a:t>
            </a:r>
            <a:br/>
            <a:br/>
            <a:r>
              <a:t>The Solar System is typically divided into two regions: the inner Solar System containing the four terrestrial or rocky planets - Mercury, Venus, Earth, and Mars - and the outer Solar System containing the four gas and ice giants - Jupiter, Saturn, Uranus, and Neptune. The asteroid belt separates these two regions.</a:t>
            </a:r>
            <a:br/>
            <a:br/>
            <a:r>
              <a:t>All objects in the Solar System are held in orbit by the gravitational force of the Sun. This fundamental force explains why planets maintain their orbits and why the entire system remains organized and stable. Understanding the structure and composition of our Solar System helps us comprehend how planetary systems form and what conditions allow for life to exist.</a:t>
            </a:r>
            <a:br/>
            <a:br/>
            <a:r>
              <a:t>[Allow approximately 3 minutes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THE PLANETS - INNER AND OUTER</a:t>
            </a:r>
            <a:br/>
            <a:br/>
            <a:r>
              <a:t>Now let's examine the planets in detail, which we categorize into two distinct groups based on their characteristics.</a:t>
            </a:r>
            <a:br/>
            <a:br/>
            <a:r>
              <a:t>The inner planets are the four terrestrial or rocky planets: Mercury, Venus, Earth, and Mars. These planets have several characteristics in common. They are relatively small, with Earth being the largest at about 12,742 kilometers in diameter. They have high density - their composition is primarily rock and metal. Most have thin atmospheres or no atmosphere at all.</a:t>
            </a:r>
            <a:br/>
            <a:br/>
            <a:r>
              <a:t>Mercury, the closest planet to the Sun, is the smallest. It has virtually no atmosphere because its gravity is too weak to retain gases. Mercury experiences extreme temperature variations - from 430°C on the sunlit side to -180°C on the night side. Venus, our sister planet in terms of size, has a thick atmosphere of carbon dioxide creating a runaway greenhouse effect. Surface temperatures reach 465°C, making it hotter than Mercury despite being farther from the Sun. Earth, our home, is unique with its moderate temperatures, liquid water, and atmosphere perfect for sustaining life. Mars, the red planet, has a thin atmosphere primarily of carbon dioxide and surface temperatures averaging -65°C. Its rust-colored surface comes from iron oxide in its rocks.</a:t>
            </a:r>
            <a:br/>
            <a:br/>
            <a:r>
              <a:t>The outer planets, located beyond the asteroid belt, are the gas and ice giants. These planets are much larger and more massive than the inner planets. Jupiter, the king of planets, has a mass greater than all other planets combined. It's primarily hydrogen and helium with a Great Red Spot - a storm system larger than Earth that has persisted for at least 300 years. Jupiter radiates more heat than it receives from the Sun, suggesting internal heat generation.</a:t>
            </a:r>
            <a:br/>
            <a:br/>
            <a:r>
              <a:t>Saturn, the second-largest planet, is famous for its beautiful ring system. These rings are composed of ice particles and rocky debris ranging from millimeter-sized dust to car-sized boulders. Saturn's atmosphere, like Jupiter's, is primarily hydrogen and helium with wind speeds exceeding 1,800 kilometers per hour.</a:t>
            </a:r>
            <a:br/>
            <a:br/>
            <a:r>
              <a:t>Uranus and Neptune are classified as ice giants because they contain more water, methane, and ammonia ices than the gas giants. Uranus rotates on its side - possibly due to a collision early in the Solar System's history. Neptune has the strongest winds in the Solar System, exceeding 2,100 kilometers per hour.</a:t>
            </a:r>
            <a:br/>
            <a:br/>
            <a:r>
              <a:t>[Allow approximately 3-4 minutes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ASTEROID BELT, DWARF PLANETS &amp; COMETS</a:t>
            </a:r>
            <a:br/>
            <a:br/>
            <a:r>
              <a:t>Beyond the eight major planets, our Solar System contains numerous smaller bodies that tell us much about the system's formation and evolution.</a:t>
            </a:r>
            <a:br/>
            <a:br/>
            <a:r>
              <a:t>The asteroid belt is a region between Mars and Jupiter containing millions of rocky objects. These range in size from dust particles to dwarf planet Ceres, which is about 940 kilometers in diameter. For centuries, astronomers wondered why a planet never formed here despite its position between Mars and Jupiter. We now understand that Jupiter's powerful gravity prevented material in this region from coalescing into a planet. Instead of forming a large body, Jupiter's gravitational pull stirred up the asteroids, causing collisions that prevented planet formation. The total mass of all asteroids combined is actually less than the Moon's mass.</a:t>
            </a:r>
            <a:br/>
            <a:br/>
            <a:r>
              <a:t>Dwarf planets are celestial bodies that meet some but not all criteria for planetary status. A dwarf planet must orbit the Sun, have sufficient mass for hydrostatic equilibrium (round shape), but has NOT cleared its orbital neighborhood of other debris. Ceres, the largest asteroid, was reclassified as a dwarf planet in 2006. Pluto, once considered the ninth planet, was reclassified as a dwarf planet for the same reason. Eris is actually more massive than Pluto but was not discovered until 2005. Other dwarf planets include Makemake and Haumea.</a:t>
            </a:r>
            <a:br/>
            <a:br/>
            <a:r>
              <a:t>Beyond Neptune's orbit lies the Kuiper Belt, a region populated with icy bodies and dwarf planets at distances of 30 to 55 AU (Astronomical Units) from the Sun. An AU is the average distance from Earth to the Sun, about 150 million kilometers.</a:t>
            </a:r>
            <a:br/>
            <a:br/>
            <a:r>
              <a:t>Even farther out, at the edge of the Sun's gravitational influence, lies the theoretical Oort Cloud. This spherical shell of icy objects surrounds the entire Solar System at distances of thousands to hundreds of thousands of AU. The Oort Cloud is thought to be the source of long-period comets - those that take thousands of years to orbit the Sun.</a:t>
            </a:r>
            <a:br/>
            <a:br/>
            <a:r>
              <a:t>Comets are fascinating objects composed of ice, rock, and dust. When their orbits bring them close to the Sun, solar radiation vaporizes their outer layers, creating the spectacular tails we observe from Earth. These tails always point away from the Sun due to solar wind pressure. Comets are often called "dirty snowballs" because of their composition. Famous comets include Halley's Comet, which returns every 76 years.</a:t>
            </a:r>
            <a:br/>
            <a:br/>
            <a:r>
              <a:t>[Allow approximately 3 minutes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EARTH - OUR HOME &amp; THE SEARCH FOR LIFE</a:t>
            </a:r>
            <a:br/>
            <a:br/>
            <a:r>
              <a:t>Finally, let's discuss what makes our home planet unique and what we've learned about the conditions necessary for life.</a:t>
            </a:r>
            <a:br/>
            <a:br/>
            <a:r>
              <a:t>Earth is the only known planet where life thrives in abundance. This isn't accidental - Earth exists in the habitable zone, also called the Goldilocks zone. This is the region around the Sun where temperatures are just right for liquid water to exist on a planet's surface. Water is essential for all known life forms and is one of the most important discoveries we've made about the requirements for life.</a:t>
            </a:r>
            <a:br/>
            <a:br/>
            <a:r>
              <a:t>Earth's protective features also make life possible. Our planet has a strong magnetic field generated by convection in the liquid iron outer core. This magnetic field deflects much of the solar wind and energetic particles that would otherwise strip away our atmosphere and damage living organisms. Without this protection, life as we know it couldn't exist on Earth's surface.</a:t>
            </a:r>
            <a:br/>
            <a:br/>
            <a:r>
              <a:t>Our atmosphere, composed primarily of nitrogen and oxygen with traces of other gases including carbon dioxide, is perfect for sustaining life. The nitrogen-oxygen mix is ideal for respiration in animals and the atmospheric chemistry that supports complex ecosystems. Nitrogen makes up 78% and oxygen 21% of Earth's atmosphere. Carbon dioxide, though making up only 0.04% of the atmosphere, is crucial for photosynthesis and acts as the primary greenhouse gas that keeps our planet warm enough for liquid water.</a:t>
            </a:r>
            <a:br/>
            <a:br/>
            <a:r>
              <a:t>Earth's size and mass are also crucial. Our planet is large enough to have retained its atmosphere over billions of years. Smaller planets like Mercury couldn't hold onto their atmospheres - their gravity is too weak. Yet Earth isn't so large that gravity creates crushing pressures and extreme temperatures like on Jupiter or Saturn.</a:t>
            </a:r>
            <a:br/>
            <a:br/>
            <a:r>
              <a:t>This combination of factors - the habitable zone location, magnetic field protection, suitable atmosphere, appropriate size and mass, and liquid water - illustrates what scientists call the Goldilocks Principle: Earth is "just right" for life.</a:t>
            </a:r>
            <a:br/>
            <a:br/>
            <a:r>
              <a:t>As we search for life elsewhere in the universe, we look for exoplanets in habitable zones around their stars. We also recognize that moons like Europa with subsurface oceans beneath icy shells and Enceladus might harbor conditions suitable for life. Future missions to Mars aim to search for evidence of past microbial life.</a:t>
            </a:r>
            <a:br/>
            <a:br/>
            <a:r>
              <a:t>Understanding our Solar System and Earth's place within it helps us understand the conditions necessary for life and our place in the cosmos. Each object in our Solar System - from massive Jupiter to tiny asteroids - plays a role in the system's stability and evolution.</a:t>
            </a:r>
            <a:br/>
            <a:br/>
            <a:r>
              <a:t>[Allow approximately 3-4 minutes for this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D55"/>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C800"/>
                </a:solidFill>
              </a:defRPr>
            </a:pPr>
            <a:r>
              <a:t>THE SOLAR SYSTEM</a:t>
            </a:r>
          </a:p>
        </p:txBody>
      </p:sp>
      <p:sp>
        <p:nvSpPr>
          <p:cNvPr id="3" name="TextBox 2"/>
          <p:cNvSpPr txBox="1"/>
          <p:nvPr/>
        </p:nvSpPr>
        <p:spPr>
          <a:xfrm>
            <a:off x="457200" y="3840480"/>
            <a:ext cx="8229600" cy="914400"/>
          </a:xfrm>
          <a:prstGeom prst="rect">
            <a:avLst/>
          </a:prstGeom>
          <a:noFill/>
        </p:spPr>
        <p:txBody>
          <a:bodyPr wrap="square">
            <a:spAutoFit/>
          </a:bodyPr>
          <a:lstStyle/>
          <a:p>
            <a:pPr algn="ctr">
              <a:defRPr sz="2800">
                <a:solidFill>
                  <a:srgbClr val="FFFFFF"/>
                </a:solidFill>
              </a:defRPr>
            </a:pPr>
            <a:r>
              <a:t>A 10th Grade Science Exploration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192D55"/>
          </a:solidFill>
          <a:ln w="38100">
            <a:solidFill>
              <a:srgbClr val="FFC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C800"/>
                </a:solidFill>
              </a:defRPr>
            </a:pPr>
            <a:r>
              <a:t>Solar System Overview</a:t>
            </a:r>
          </a:p>
        </p:txBody>
      </p:sp>
      <p:sp>
        <p:nvSpPr>
          <p:cNvPr id="3" name="TextBox 2"/>
          <p:cNvSpPr txBox="1"/>
          <p:nvPr/>
        </p:nvSpPr>
        <p:spPr>
          <a:xfrm>
            <a:off x="731520" y="1554480"/>
            <a:ext cx="7680960" cy="4754880"/>
          </a:xfrm>
          <a:prstGeom prst="rect">
            <a:avLst/>
          </a:prstGeom>
          <a:noFill/>
        </p:spPr>
        <p:txBody>
          <a:bodyPr wrap="square">
            <a:spAutoFit/>
          </a:bodyPr>
          <a:lstStyle/>
          <a:p>
            <a:pPr>
              <a:spcBef>
                <a:spcPts val="800"/>
              </a:spcBef>
              <a:spcAft>
                <a:spcPts val="800"/>
              </a:spcAft>
              <a:defRPr sz="2000">
                <a:solidFill>
                  <a:srgbClr val="192D55"/>
                </a:solidFill>
              </a:defRPr>
            </a:pPr>
            <a:r>
              <a:t>• Definition: Our solar system consists of the Sun and all objects orbiting it</a:t>
            </a:r>
          </a:p>
          <a:p>
            <a:pPr>
              <a:spcBef>
                <a:spcPts val="800"/>
              </a:spcBef>
              <a:spcAft>
                <a:spcPts val="800"/>
              </a:spcAft>
              <a:defRPr sz="2000">
                <a:solidFill>
                  <a:srgbClr val="192D55"/>
                </a:solidFill>
              </a:defRPr>
            </a:pPr>
            <a:r>
              <a:t>• Contains 8 planets, 5 recognized dwarf planets, moons, asteroids, and comets</a:t>
            </a:r>
          </a:p>
          <a:p>
            <a:pPr>
              <a:spcBef>
                <a:spcPts val="800"/>
              </a:spcBef>
              <a:spcAft>
                <a:spcPts val="800"/>
              </a:spcAft>
              <a:defRPr sz="2000">
                <a:solidFill>
                  <a:srgbClr val="192D55"/>
                </a:solidFill>
              </a:defRPr>
            </a:pPr>
            <a:r>
              <a:t>• Formed approximately 4.6 billion years ago from a solar nebula</a:t>
            </a:r>
          </a:p>
          <a:p>
            <a:pPr>
              <a:spcBef>
                <a:spcPts val="800"/>
              </a:spcBef>
              <a:spcAft>
                <a:spcPts val="800"/>
              </a:spcAft>
              <a:defRPr sz="2000">
                <a:solidFill>
                  <a:srgbClr val="192D55"/>
                </a:solidFill>
              </a:defRPr>
            </a:pPr>
            <a:r>
              <a:t>• Organized into inner rocky planets and outer gas/ice giants</a:t>
            </a:r>
          </a:p>
          <a:p>
            <a:pPr>
              <a:spcBef>
                <a:spcPts val="800"/>
              </a:spcBef>
              <a:spcAft>
                <a:spcPts val="800"/>
              </a:spcAft>
              <a:defRPr sz="2000">
                <a:solidFill>
                  <a:srgbClr val="192D55"/>
                </a:solidFill>
              </a:defRPr>
            </a:pPr>
            <a:r>
              <a:t>• Held together by the Sun's gravitational force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192D55"/>
          </a:solidFill>
          <a:ln w="38100">
            <a:solidFill>
              <a:srgbClr val="FFC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C800"/>
                </a:solidFill>
              </a:defRPr>
            </a:pPr>
            <a:r>
              <a:t>The Planets: Inner and Outer</a:t>
            </a:r>
          </a:p>
        </p:txBody>
      </p:sp>
      <p:sp>
        <p:nvSpPr>
          <p:cNvPr id="3" name="TextBox 2"/>
          <p:cNvSpPr txBox="1"/>
          <p:nvPr/>
        </p:nvSpPr>
        <p:spPr>
          <a:xfrm>
            <a:off x="731520" y="1554480"/>
            <a:ext cx="7680960" cy="4754880"/>
          </a:xfrm>
          <a:prstGeom prst="rect">
            <a:avLst/>
          </a:prstGeom>
          <a:noFill/>
        </p:spPr>
        <p:txBody>
          <a:bodyPr wrap="square">
            <a:spAutoFit/>
          </a:bodyPr>
          <a:lstStyle/>
          <a:p>
            <a:pPr>
              <a:spcBef>
                <a:spcPts val="800"/>
              </a:spcBef>
              <a:spcAft>
                <a:spcPts val="800"/>
              </a:spcAft>
              <a:defRPr sz="2000">
                <a:solidFill>
                  <a:srgbClr val="192D55"/>
                </a:solidFill>
              </a:defRPr>
            </a:pPr>
            <a:r>
              <a:t>• Inner Planets (Terrestrial): Mercury, Venus, Earth, Mars</a:t>
            </a:r>
          </a:p>
          <a:p>
            <a:pPr>
              <a:spcBef>
                <a:spcPts val="800"/>
              </a:spcBef>
              <a:spcAft>
                <a:spcPts val="800"/>
              </a:spcAft>
              <a:defRPr sz="2000">
                <a:solidFill>
                  <a:srgbClr val="192D55"/>
                </a:solidFill>
              </a:defRPr>
            </a:pPr>
            <a:r>
              <a:t>  - Small, rocky, high density, thin/no atmospheres (except Venus and Earth)</a:t>
            </a:r>
          </a:p>
          <a:p>
            <a:pPr>
              <a:spcBef>
                <a:spcPts val="800"/>
              </a:spcBef>
              <a:spcAft>
                <a:spcPts val="800"/>
              </a:spcAft>
              <a:defRPr sz="2000">
                <a:solidFill>
                  <a:srgbClr val="192D55"/>
                </a:solidFill>
              </a:defRPr>
            </a:pPr>
            <a:r>
              <a:t>  - Mercury: Closest to Sun, extreme temperatures, no atmosphere</a:t>
            </a:r>
          </a:p>
          <a:p>
            <a:pPr>
              <a:spcBef>
                <a:spcPts val="800"/>
              </a:spcBef>
              <a:spcAft>
                <a:spcPts val="800"/>
              </a:spcAft>
              <a:defRPr sz="2000">
                <a:solidFill>
                  <a:srgbClr val="192D55"/>
                </a:solidFill>
              </a:defRPr>
            </a:pPr>
            <a:r>
              <a:t>• Outer Planets (Gas/Ice Giants): Jupiter, Saturn, Uranus, Neptune</a:t>
            </a:r>
          </a:p>
          <a:p>
            <a:pPr>
              <a:spcBef>
                <a:spcPts val="800"/>
              </a:spcBef>
              <a:spcAft>
                <a:spcPts val="800"/>
              </a:spcAft>
              <a:defRPr sz="2000">
                <a:solidFill>
                  <a:srgbClr val="192D55"/>
                </a:solidFill>
              </a:defRPr>
            </a:pPr>
            <a:r>
              <a:t>  - Massive, low density, thick atmospheres, multiple moons</a:t>
            </a:r>
          </a:p>
          <a:p>
            <a:pPr>
              <a:spcBef>
                <a:spcPts val="800"/>
              </a:spcBef>
              <a:spcAft>
                <a:spcPts val="800"/>
              </a:spcAft>
              <a:defRPr sz="2000">
                <a:solidFill>
                  <a:srgbClr val="192D55"/>
                </a:solidFill>
              </a:defRPr>
            </a:pPr>
            <a:r>
              <a:t>  - Jupiter: Largest, has Great Red Spot storm system</a:t>
            </a:r>
          </a:p>
          <a:p>
            <a:pPr>
              <a:spcBef>
                <a:spcPts val="800"/>
              </a:spcBef>
              <a:spcAft>
                <a:spcPts val="800"/>
              </a:spcAft>
              <a:defRPr sz="2000">
                <a:solidFill>
                  <a:srgbClr val="192D55"/>
                </a:solidFill>
              </a:defRPr>
            </a:pPr>
            <a:r>
              <a:t>  - Saturn: Known for spectacular ring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192D55"/>
          </a:solidFill>
          <a:ln w="38100">
            <a:solidFill>
              <a:srgbClr val="FFC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C800"/>
                </a:solidFill>
              </a:defRPr>
            </a:pPr>
            <a:r>
              <a:t>Asteroid Belt, Dwarf Planets &amp; Comets</a:t>
            </a:r>
          </a:p>
        </p:txBody>
      </p:sp>
      <p:sp>
        <p:nvSpPr>
          <p:cNvPr id="3" name="TextBox 2"/>
          <p:cNvSpPr txBox="1"/>
          <p:nvPr/>
        </p:nvSpPr>
        <p:spPr>
          <a:xfrm>
            <a:off x="731520" y="1554480"/>
            <a:ext cx="7680960" cy="4754880"/>
          </a:xfrm>
          <a:prstGeom prst="rect">
            <a:avLst/>
          </a:prstGeom>
          <a:noFill/>
        </p:spPr>
        <p:txBody>
          <a:bodyPr wrap="square">
            <a:spAutoFit/>
          </a:bodyPr>
          <a:lstStyle/>
          <a:p>
            <a:pPr>
              <a:spcBef>
                <a:spcPts val="800"/>
              </a:spcBef>
              <a:spcAft>
                <a:spcPts val="800"/>
              </a:spcAft>
              <a:defRPr sz="2000">
                <a:solidFill>
                  <a:srgbClr val="192D55"/>
                </a:solidFill>
              </a:defRPr>
            </a:pPr>
            <a:r>
              <a:t>• Asteroid Belt: Located between Mars and Jupiter</a:t>
            </a:r>
          </a:p>
          <a:p>
            <a:pPr>
              <a:spcBef>
                <a:spcPts val="800"/>
              </a:spcBef>
              <a:spcAft>
                <a:spcPts val="800"/>
              </a:spcAft>
              <a:defRPr sz="2000">
                <a:solidFill>
                  <a:srgbClr val="192D55"/>
                </a:solidFill>
              </a:defRPr>
            </a:pPr>
            <a:r>
              <a:t>  - Contains millions of rocky objects ranging from dust to 1,000 km diameter</a:t>
            </a:r>
          </a:p>
          <a:p>
            <a:pPr>
              <a:spcBef>
                <a:spcPts val="800"/>
              </a:spcBef>
              <a:spcAft>
                <a:spcPts val="800"/>
              </a:spcAft>
              <a:defRPr sz="2000">
                <a:solidFill>
                  <a:srgbClr val="192D55"/>
                </a:solidFill>
              </a:defRPr>
            </a:pPr>
            <a:r>
              <a:t>  - Composed of leftover planetary building materials</a:t>
            </a:r>
          </a:p>
          <a:p>
            <a:pPr>
              <a:spcBef>
                <a:spcPts val="800"/>
              </a:spcBef>
              <a:spcAft>
                <a:spcPts val="800"/>
              </a:spcAft>
              <a:defRPr sz="2000">
                <a:solidFill>
                  <a:srgbClr val="192D55"/>
                </a:solidFill>
              </a:defRPr>
            </a:pPr>
            <a:r>
              <a:t>• Kuiper Belt and Oort Cloud: Beyond Neptune's orbit</a:t>
            </a:r>
          </a:p>
          <a:p>
            <a:pPr>
              <a:spcBef>
                <a:spcPts val="800"/>
              </a:spcBef>
              <a:spcAft>
                <a:spcPts val="800"/>
              </a:spcAft>
              <a:defRPr sz="2000">
                <a:solidFill>
                  <a:srgbClr val="192D55"/>
                </a:solidFill>
              </a:defRPr>
            </a:pPr>
            <a:r>
              <a:t>  - Kuiper Belt: Home to dwarf planets and icy bodies</a:t>
            </a:r>
          </a:p>
          <a:p>
            <a:pPr>
              <a:spcBef>
                <a:spcPts val="800"/>
              </a:spcBef>
              <a:spcAft>
                <a:spcPts val="800"/>
              </a:spcAft>
              <a:defRPr sz="2000">
                <a:solidFill>
                  <a:srgbClr val="192D55"/>
                </a:solidFill>
              </a:defRPr>
            </a:pPr>
            <a:r>
              <a:t>  - Oort Cloud: Theoretical spherical shell of icy objects surrounding entire system</a:t>
            </a:r>
          </a:p>
          <a:p>
            <a:pPr>
              <a:spcBef>
                <a:spcPts val="800"/>
              </a:spcBef>
              <a:spcAft>
                <a:spcPts val="800"/>
              </a:spcAft>
              <a:defRPr sz="2000">
                <a:solidFill>
                  <a:srgbClr val="192D55"/>
                </a:solidFill>
              </a:defRPr>
            </a:pPr>
            <a:r>
              <a:t>• Comets: Icy bodies from outer regions, visible when orbits bring them near Sun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192D55"/>
          </a:solidFill>
          <a:ln w="38100">
            <a:solidFill>
              <a:srgbClr val="FFC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C800"/>
                </a:solidFill>
              </a:defRPr>
            </a:pPr>
            <a:r>
              <a:t>Earth: Our Home &amp; The Search for Life</a:t>
            </a:r>
          </a:p>
        </p:txBody>
      </p:sp>
      <p:sp>
        <p:nvSpPr>
          <p:cNvPr id="3" name="TextBox 2"/>
          <p:cNvSpPr txBox="1"/>
          <p:nvPr/>
        </p:nvSpPr>
        <p:spPr>
          <a:xfrm>
            <a:off x="731520" y="1554480"/>
            <a:ext cx="7680960" cy="4754880"/>
          </a:xfrm>
          <a:prstGeom prst="rect">
            <a:avLst/>
          </a:prstGeom>
          <a:noFill/>
        </p:spPr>
        <p:txBody>
          <a:bodyPr wrap="square">
            <a:spAutoFit/>
          </a:bodyPr>
          <a:lstStyle/>
          <a:p>
            <a:pPr>
              <a:spcBef>
                <a:spcPts val="800"/>
              </a:spcBef>
              <a:spcAft>
                <a:spcPts val="800"/>
              </a:spcAft>
              <a:defRPr sz="2000">
                <a:solidFill>
                  <a:srgbClr val="192D55"/>
                </a:solidFill>
              </a:defRPr>
            </a:pPr>
            <a:r>
              <a:t>• Earth: The Only Known Planet with Life</a:t>
            </a:r>
          </a:p>
          <a:p>
            <a:pPr>
              <a:spcBef>
                <a:spcPts val="800"/>
              </a:spcBef>
              <a:spcAft>
                <a:spcPts val="800"/>
              </a:spcAft>
              <a:defRPr sz="2000">
                <a:solidFill>
                  <a:srgbClr val="192D55"/>
                </a:solidFill>
              </a:defRPr>
            </a:pPr>
            <a:r>
              <a:t>  - Optimal distance from Sun (habitable zone) maintains liquid water</a:t>
            </a:r>
          </a:p>
          <a:p>
            <a:pPr>
              <a:spcBef>
                <a:spcPts val="800"/>
              </a:spcBef>
              <a:spcAft>
                <a:spcPts val="800"/>
              </a:spcAft>
              <a:defRPr sz="2000">
                <a:solidFill>
                  <a:srgbClr val="192D55"/>
                </a:solidFill>
              </a:defRPr>
            </a:pPr>
            <a:r>
              <a:t>  - Magnetic field protects from solar radiation</a:t>
            </a:r>
          </a:p>
          <a:p>
            <a:pPr>
              <a:spcBef>
                <a:spcPts val="800"/>
              </a:spcBef>
              <a:spcAft>
                <a:spcPts val="800"/>
              </a:spcAft>
              <a:defRPr sz="2000">
                <a:solidFill>
                  <a:srgbClr val="192D55"/>
                </a:solidFill>
              </a:defRPr>
            </a:pPr>
            <a:r>
              <a:t>  - Atmosphere: Nitrogen, oxygen, and other gases essential for life</a:t>
            </a:r>
          </a:p>
          <a:p>
            <a:pPr>
              <a:spcBef>
                <a:spcPts val="800"/>
              </a:spcBef>
              <a:spcAft>
                <a:spcPts val="800"/>
              </a:spcAft>
              <a:defRPr sz="2000">
                <a:solidFill>
                  <a:srgbClr val="192D55"/>
                </a:solidFill>
              </a:defRPr>
            </a:pPr>
            <a:r>
              <a:t>• The Goldilocks Principle: Earth is 'just right'</a:t>
            </a:r>
          </a:p>
          <a:p>
            <a:pPr>
              <a:spcBef>
                <a:spcPts val="800"/>
              </a:spcBef>
              <a:spcAft>
                <a:spcPts val="800"/>
              </a:spcAft>
              <a:defRPr sz="2000">
                <a:solidFill>
                  <a:srgbClr val="192D55"/>
                </a:solidFill>
              </a:defRPr>
            </a:pPr>
            <a:r>
              <a:t>  - Temperature ranges allow liquid water and organic chemistry</a:t>
            </a:r>
          </a:p>
          <a:p>
            <a:pPr>
              <a:spcBef>
                <a:spcPts val="800"/>
              </a:spcBef>
              <a:spcAft>
                <a:spcPts val="800"/>
              </a:spcAft>
              <a:defRPr sz="2000">
                <a:solidFill>
                  <a:srgbClr val="192D55"/>
                </a:solidFill>
              </a:defRPr>
            </a:pPr>
            <a:r>
              <a:t>  - Sufficient gravity to retain atmosphere and support complex organisms</a:t>
            </a:r>
          </a:p>
          <a:p>
            <a:pPr>
              <a:spcBef>
                <a:spcPts val="800"/>
              </a:spcBef>
              <a:spcAft>
                <a:spcPts val="800"/>
              </a:spcAft>
              <a:defRPr sz="2000">
                <a:solidFill>
                  <a:srgbClr val="192D55"/>
                </a:solidFill>
              </a:defRPr>
            </a:pPr>
            <a:r>
              <a:t>• Future Exploration: Mars, Europa, and exoplanet systems show similar potential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